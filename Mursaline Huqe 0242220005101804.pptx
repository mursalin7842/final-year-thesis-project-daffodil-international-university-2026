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24"/>
  </p:notesMasterIdLst>
  <p:sldIdLst>
    <p:sldId id="256" r:id="rId2"/>
    <p:sldId id="264" r:id="rId3"/>
    <p:sldId id="280" r:id="rId4"/>
    <p:sldId id="293" r:id="rId5"/>
    <p:sldId id="296" r:id="rId6"/>
    <p:sldId id="301" r:id="rId7"/>
    <p:sldId id="294" r:id="rId8"/>
    <p:sldId id="297" r:id="rId9"/>
    <p:sldId id="302" r:id="rId10"/>
    <p:sldId id="298" r:id="rId11"/>
    <p:sldId id="303" r:id="rId12"/>
    <p:sldId id="305" r:id="rId13"/>
    <p:sldId id="306" r:id="rId14"/>
    <p:sldId id="307" r:id="rId15"/>
    <p:sldId id="308" r:id="rId16"/>
    <p:sldId id="312" r:id="rId17"/>
    <p:sldId id="300" r:id="rId18"/>
    <p:sldId id="291" r:id="rId19"/>
    <p:sldId id="299" r:id="rId20"/>
    <p:sldId id="310" r:id="rId21"/>
    <p:sldId id="311" r:id="rId22"/>
    <p:sldId id="295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>
      <p:cViewPr varScale="1">
        <p:scale>
          <a:sx n="105" d="100"/>
          <a:sy n="105" d="100"/>
        </p:scale>
        <p:origin x="780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2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5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7E274-9BFB-FB4A-38EE-946DFC49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6B0D1-532F-AFBD-7367-7547D6454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D12EC-DDCB-10C6-83EB-E778C6643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8B486-39B9-8241-DCA7-AFC56FAE6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77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55E40-FCBC-AC52-B6ED-4174E07CE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2E96B-8F46-9BC1-6CBB-E27C4BE19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134C5-DBE6-29CF-54A4-A08BB573E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71E9-C8B4-84C2-E1EA-F2DA5F2F9D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03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66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05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6BAA-8F85-E78A-C60F-34C028D3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AF9EE-B9E5-8AC1-F0FE-5DF93ECBA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2C82B-C945-17B2-770F-9860A124A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7281D-AE69-49DB-C9A1-6D476CBAC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52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A917-4C4F-1C7C-7D29-901DDB38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39961-ED90-1B51-1BA5-0BC9FF736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4D384-BC3E-7D7B-0E17-76D171BE1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9667C-BAA5-1719-8A8E-660AB846D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DA40400-4F5E-4E00-9BB5-F457594CE77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7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/>
              <a:t>B.Sc. Final-Defense</a:t>
            </a:r>
            <a:endParaRPr lang="en-US" b="1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/>
              <a:t>B.Sc. Final-Defense</a:t>
            </a:r>
            <a:endParaRPr lang="en-US" b="1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>
              <a:defRPr/>
            </a:pPr>
            <a:r>
              <a:rPr lang="en-US" sz="4000" dirty="0">
                <a:solidFill>
                  <a:srgbClr val="7030A0"/>
                </a:solidFill>
              </a:rPr>
              <a:t>Optimizing and Interpreting Deep Learning for IoT Security: An Explainable AI (XAI)Framework for Bi-LSTM-Based Intrusion Detection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695700" y="3973399"/>
            <a:ext cx="4800600" cy="2438400"/>
          </a:xfrm>
        </p:spPr>
        <p:txBody>
          <a:bodyPr rtlCol="0"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Mursaline Huqe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0242220005101804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now powers homes, industry, and critical infrastructure, but every connected device is a potential entry point for cyber attacks.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threats include Mirai botnets, DoS floods, port scans, and MITM ARP spoofing on the IoTID20 benchmark Dataset.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Deep-learning intrusion detection at the edge faces three challenges: large model size, black-box opacity, and adversarial evasion.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lightweight Attention-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framework, compressing 69 features to 15 (78.3% reduction) for real-time detection.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(PGD-10) training and SHAP explainability add robustness and turn alerts into trustworthy forensic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349375"/>
            <a:ext cx="10972800" cy="4800600"/>
          </a:xfrm>
        </p:spPr>
        <p:txBody>
          <a:bodyPr>
            <a:noAutofit/>
          </a:bodyPr>
          <a:lstStyle/>
          <a:p>
            <a:pPr marL="342900" indent="-342900" algn="just">
              <a:spcBef>
                <a:spcPts val="7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&amp; Compression: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Condense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69-dimensional telemetry to a 15-feature subspace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balancing ultra-low latency with multi-class accuracy.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Class-Balanced Permutation Importance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inverse-frequency (macro-F1) weighting recovers rare-attack features (e.g. MITM ARP &lt;2%)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 projection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preserves physical network meaning →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1.49 MB footprint, &lt;0.04 ms/sample inference</a:t>
            </a:r>
          </a:p>
          <a:p>
            <a:pPr marL="342900" indent="-342900" algn="just">
              <a:spcBef>
                <a:spcPts val="7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Attention-Bi-LSTM 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LSTM with dot-product Self-Attention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5-class detection (Normal, Mirai, DoS, Scan, MITM) on IoTID20.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&lt;2.0 MB parameter footprint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deployable on low-cost IoT gateways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inference at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&lt;0.04 ms mean latency per sample</a:t>
            </a:r>
          </a:p>
          <a:p>
            <a:pPr marL="342900" indent="-342900" algn="just">
              <a:spcBef>
                <a:spcPts val="7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Evasion Hardening: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a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Madry minimax attacker-defender loop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harden decision boundaries against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FGSM/PGD white-box evasion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50% of each training batch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convert brittle statistical cues into robust structural patterns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Optimizes the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accuracy-robustness trade-off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preserve clean-data performance</a:t>
            </a:r>
          </a:p>
          <a:p>
            <a:pPr marL="342900" indent="-342900" algn="just">
              <a:spcBef>
                <a:spcPts val="7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for Security Forensics: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</a:t>
            </a: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KernelExplainer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turn black-box alerts into analyst-ready forensic evidence.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beeswarm plots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feature distributions driving each threat class</a:t>
            </a:r>
          </a:p>
          <a:p>
            <a:pPr marL="800100" indent="-285750" algn="just">
              <a:spcBef>
                <a:spcPts val="300"/>
              </a:spcBef>
              <a:buFont typeface="Arial" pitchFamily="34" charset="0"/>
              <a:buChar char="–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waterfall charts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packet-level attribution delivered with real-time alerts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10" name="Stud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16811"/>
              </p:ext>
            </p:extLst>
          </p:nvPr>
        </p:nvGraphicFramePr>
        <p:xfrm>
          <a:off x="457200" y="1300000"/>
          <a:ext cx="11277600" cy="452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Ref.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(Year)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Performance Summary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 / Technical Gaps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[1]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Ullah &amp; Mahmoud (2020)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Physical smart-home testbed utilizing the MQTT protocol to generate an IoT benchmark.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Generated the IoTID20 benchmark dataset containing 625,783 records with 83 network features.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Dataset generation only; fails to propose a deep sequence model or establish a &lt;2MB edge gateway baseline.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[9]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Islam et al. (2021)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Bidirectional LSTM (Bi-LSTM) trained on 69 features of the IoTID20 dataset.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Achieved 99.996% binary accuracy on IoTID20; resulted in a 4.26 MB model size footprint.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Fails to meet &lt;2MB edge gateway constraints (4.26 MB); lacks adversarial PGD-10 hardening and XAI transparency.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[17]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Al-Shibly et al. (2026)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Hybrid CNN-BiLSTM with Permutation Importance (PI) feature selection on CIC IIoT 2025.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Reduced feature space to K=20; achieved 0.9720 accuracy and 0.9719 F1-score.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Lacks adversarial PGD-10 hardening (susceptible to gradient-based evasion); does not apply SHAP for packet-level forensic explanation.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[2]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Akintade et al. (2023)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XGBoost with Permutation Importance (PI) alongside SHAP/LIME on NSL-KDD and CCID-V1.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Reduced NSL-KDD features from 42 to 20; achieved 0.8751 AUC in 4.49 seconds runtime.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Applies SHAP only to shallow trees (XGBoost), not deep sequence models; lacks adversarial evaluation.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 (Cont.)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endParaRPr lang="en-US" sz="30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aphicFrame>
        <p:nvGraphicFramePr>
          <p:cNvPr id="10" name="Stud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710005"/>
              </p:ext>
            </p:extLst>
          </p:nvPr>
        </p:nvGraphicFramePr>
        <p:xfrm>
          <a:off x="457200" y="1300000"/>
          <a:ext cx="11277600" cy="4520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Ref.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Authors (Year)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Performance Summary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 / Technical Gaps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[36]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Sadhwani et al. (2025)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Hybrid BiLSTM-CNN for spatial-temporal extraction over the UNSW-NB15 dataset.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Achieved 97.51% accuracy, 99.265% precision, 93.091% F1-score, and 8.857% Miscalculation Rate.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Lacks adversarial PGD-10 hardening; no SHAP explainability layer for alert validation.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[6]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Madry et al. (2018)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Projected Gradient Descent (PGD) minimax adversarial training framework.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Defines adversarial robustness against L∞ norm ball perturbations at ε=0.05.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Purely mathematical robustness optimization; fails to address &lt;2MB edge gateway constraints or post-hoc SHAP explainability.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[34]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Tsipras et al. (2019)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Mathematical formulation of the accuracy-robustness tradeoff under adversarial training.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Proves a mandatory 4% to 8% standard classification accuracy drop is required for structural defense.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Theoretical framework without empirical IoT deployment, feature compression, or SHAP integration.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[4]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Lundberg &amp; Lee (2017)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SHapley Additive exPlanations (SHAP) framework utilizing KernelExplainer.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Computes unique additive feature attributions for black-box models based on game theory.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General framework; lacks native integration for IoT network packet forensics and adversarial robustness contexts.</a:t>
                      </a:r>
                    </a:p>
                  </a:txBody>
                  <a:tcPr marL="45720" marR="45720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180000"/>
            <a:ext cx="11277600" cy="1200000"/>
          </a:xfrm>
        </p:spPr>
        <p:txBody>
          <a:bodyPr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 of the reviewed NIDS satisfy all three edge requirements simultaneously:</a:t>
            </a:r>
          </a:p>
          <a:p>
            <a:pPr marL="342900" indent="-34290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constraint: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uncompressed Bi-LSTMs exceed 4 MB  over the &lt;2 MB edge-gateway.</a:t>
            </a:r>
          </a:p>
          <a:p>
            <a:pPr marL="342900" indent="-34290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 loss: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PCA-style reduction destroys feature semantics, blocking SHAP forensic explanation.</a:t>
            </a:r>
          </a:p>
          <a:p>
            <a:pPr marL="342900" indent="-34290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fragility: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PGD-10 hardening, accuracy collapses under FGSM/PGD gradient evasion.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aphicFrame>
        <p:nvGraphicFramePr>
          <p:cNvPr id="10" name="Gap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565032"/>
              </p:ext>
            </p:extLst>
          </p:nvPr>
        </p:nvGraphicFramePr>
        <p:xfrm>
          <a:off x="457200" y="2500000"/>
          <a:ext cx="11277600" cy="33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IDS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ML IDS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Unoptimized DL IDS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NIDS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Framework</a:t>
                      </a:r>
                    </a:p>
                  </a:txBody>
                  <a:tcPr marL="45720" marR="45720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Zero-Day Detection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F4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Footprint (&lt;2.0 MB)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(4.26 MB)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(3.63 MB)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(1.49 MB)</a:t>
                      </a:r>
                    </a:p>
                  </a:txBody>
                  <a:tcPr marL="45720" marR="45720" marT="18288" marB="18288" anchor="ctr">
                    <a:solidFill>
                      <a:srgbClr val="F4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Adversarial Hardening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N/A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PGD-10 (75.36%)</a:t>
                      </a:r>
                    </a:p>
                  </a:txBody>
                  <a:tcPr marL="45720" marR="45720" marT="18288" marB="18288" anchor="ctr">
                    <a:solidFill>
                      <a:srgbClr val="F4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SHAP Explanations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45720" marR="45720" marT="18288" marB="18288" anchor="ctr">
                    <a:solidFill>
                      <a:srgbClr val="F4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Interpretability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(PCA)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(PI+CREA)</a:t>
                      </a:r>
                    </a:p>
                  </a:txBody>
                  <a:tcPr marL="45720" marR="45720" marT="18288" marB="18288" anchor="ctr">
                    <a:solidFill>
                      <a:srgbClr val="F4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143000"/>
            <a:ext cx="7162800" cy="4750000"/>
          </a:xfrm>
        </p:spPr>
        <p:txBody>
          <a:bodyPr>
            <a:noAutofit/>
          </a:bodyPr>
          <a:lstStyle/>
          <a:p>
            <a:pPr marL="285750" indent="-28575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drops leakage columns (Cat, Sub_Cat), keeps a stratified 80/20 split, and MinMax-scales to one range, applying SMOTE to the training split only so rare attacks (MITM ARP &lt; 2%) become learnable without leaking into the test set.</a:t>
            </a:r>
          </a:p>
          <a:p>
            <a:pPr marL="285750" indent="-28575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XGBoost surrogate with inverse-frequency class weights scores all 69 features by the macro-F1 drop when each is shuffled, narrowing them to the 15 that carry real multi-class signal from pareto k subsets.</a:t>
            </a:r>
          </a:p>
          <a:p>
            <a:pPr marL="285750" indent="-28575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 alignment: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sweeps k from 1 to 69 to the Kneedle inflection, compresses to 15 features while eigenspace alignment keeps their physical network meaning, then reshapes into a sequence tensor  readable later, unlike PCA.</a:t>
            </a:r>
          </a:p>
          <a:p>
            <a:pPr marL="285750" indent="-28575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Attention-BiLSTM: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reads each flow forward and backward with 64-unit LSTMs, lets Luong self-attention weight the packets that mark an attack, and closes with dropout and a 5-class softmax under a 2 MB footprint.</a:t>
            </a:r>
          </a:p>
          <a:p>
            <a:pPr marL="285750" indent="-28575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hardening: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Madry PGD-10 minimax training perturbs half of every batch (budget 0.05, step 0.0125, 10 steps) to rebuild decision boundaries against white-box evasion, trading a little clean accuracy for real resistance.</a:t>
            </a:r>
          </a:p>
          <a:p>
            <a:pPr marL="285750" indent="-28575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explanation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KernelExplainer over a 100-sample background ships each alert with the exact features that triggered it a global beeswarm and a per-alert waterfall giving analysts evidence instead of a black-box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C70109-CA6E-0248-30AD-CDF6B0A8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177159"/>
            <a:ext cx="4258306" cy="484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5050" y="274638"/>
            <a:ext cx="101219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CD333A3-7515-47B8-9EDC-EE0892D9C861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3422A-C0DF-7A81-A5F0-91D10850A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458953"/>
            <a:ext cx="4495800" cy="2790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D3417E-B43B-1B4D-527D-F29F0E2AD3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127234"/>
            <a:ext cx="3886200" cy="2331719"/>
          </a:xfrm>
          <a:prstGeom prst="rect">
            <a:avLst/>
          </a:prstGeom>
        </p:spPr>
      </p:pic>
      <p:sp>
        <p:nvSpPr>
          <p:cNvPr id="20" name="Dataset Content"/>
          <p:cNvSpPr>
            <a:spLocks noGrp="1"/>
          </p:cNvSpPr>
          <p:nvPr/>
        </p:nvSpPr>
        <p:spPr>
          <a:xfrm>
            <a:off x="495300" y="1143000"/>
            <a:ext cx="6858000" cy="495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0" indent="0" algn="just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IoTID20 Dataset</a:t>
            </a:r>
          </a:p>
          <a:p>
            <a:pPr marL="342900" indent="-34290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smart-home testbed (Univ. of Ontario) , SKT NUGU AI speaker and EZVIZ Wi-Fi camera behind an Orange Pi gateway running MQTT, with flows extracted using CICFlowMeter.</a:t>
            </a:r>
          </a:p>
          <a:p>
            <a:pPr marL="342900" indent="-34290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625,783 flow records described by 83 numerical features plus 3 metadata columns.</a:t>
            </a:r>
          </a:p>
          <a:p>
            <a:pPr marL="342900" indent="-34290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types: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Mirai botnet, Denial of Service, Scan, and MITM ARP spoofing set against benign traffic.</a:t>
            </a:r>
          </a:p>
          <a:p>
            <a:pPr marL="342900" indent="-34290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distribution: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Mirai 66%, DoS 15%, Normal 15%, Scan 4%, and MITM ARP spoofing &lt; 2%  a severely imbalanced mix.</a:t>
            </a:r>
          </a:p>
          <a:p>
            <a:pPr marL="0" indent="0" algn="just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4F81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342900" indent="-34290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split: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80/20 train-test split (500,332 train / 125,083 test) that preserves the original class ratios.</a:t>
            </a:r>
          </a:p>
          <a:p>
            <a:pPr marL="342900" indent="-34290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MinMax scaling: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normalized strictly to [0, 1], fitting the scaler on the training split only to prevent data leakage.</a:t>
            </a:r>
          </a:p>
          <a:p>
            <a:pPr marL="342900" indent="-342900" algn="just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oversampling: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oversampling (k = 5 neighbors) on the training split only, lifting the minority MITM ARP class from &lt; 2% toward the majority; the test split is never oversampled.</a:t>
            </a:r>
          </a:p>
        </p:txBody>
      </p:sp>
    </p:spTree>
    <p:extLst>
      <p:ext uri="{BB962C8B-B14F-4D97-AF65-F5344CB8AC3E}">
        <p14:creationId xmlns:p14="http://schemas.microsoft.com/office/powerpoint/2010/main" val="77100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1FBADF9-DEAC-03CE-FB1D-DB62E8AC4A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216632"/>
            <a:ext cx="4273822" cy="49925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03DAF7-FECC-2626-2957-28D78BC32C8C}"/>
              </a:ext>
            </a:extLst>
          </p:cNvPr>
          <p:cNvSpPr txBox="1"/>
          <p:nvPr/>
        </p:nvSpPr>
        <p:spPr>
          <a:xfrm>
            <a:off x="685800" y="1245535"/>
            <a:ext cx="6127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Class-Balanced Permutation Importance scores for all 69 IoTID20 features, sorted by macro-averaged feature importance.</a:t>
            </a:r>
          </a:p>
        </p:txBody>
      </p:sp>
      <p:graphicFrame>
        <p:nvGraphicFramePr>
          <p:cNvPr id="30" name="Top Featur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90455"/>
              </p:ext>
            </p:extLst>
          </p:nvPr>
        </p:nvGraphicFramePr>
        <p:xfrm>
          <a:off x="685800" y="2300000"/>
          <a:ext cx="6127532" cy="3719798"/>
        </p:xfrm>
        <a:graphic>
          <a:graphicData uri="http://schemas.openxmlformats.org/drawingml/2006/table">
            <a:tbl>
              <a:tblPr firstRow="1" bandRow="1"/>
              <a:tblGrid>
                <a:gridCol w="524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7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51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Rank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PI Score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Rank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PI Score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Flow_Duration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0.3204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Pkt_Len_Mean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0.0017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Src_Port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0.2708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Fwd_Header_Len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0.0010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Dst_Port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0.1258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Pkt_Size_Avg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0.0009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Init_Bwd_Win_Byts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0.0488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Idle_Mean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Flow_Pkts/s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0.0221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ACK_Flag_Cnt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Protocol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0.0103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Flow_IAT_Std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0.0007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Flow_IAT_Max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0.0085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Idle_Max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0.0006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Flow_IAT_Mean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0.0048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Bwd_Pkt_Len_Std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0.0006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Flow_IAT_Min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0.0045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Pkt_Len_Max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0.0006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8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Bwd_Header_Len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0.0033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Fwd_IAT_Std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0.0005</a:t>
                      </a:r>
                    </a:p>
                  </a:txBody>
                  <a:tcPr marL="27432" marR="27432" marT="10000" marB="10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9E83-05E7-F247-3D08-6931A8D5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D6C41-519D-16C4-E84A-FB5DD13AD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788CE-DA15-DA0A-3D01-6B8A4C1D86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990600"/>
            <a:ext cx="6800000" cy="2250000"/>
          </a:xfrm>
        </p:spPr>
        <p:txBody>
          <a:bodyPr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Feature Selection &amp; k-Discovery</a:t>
            </a:r>
          </a:p>
          <a:p>
            <a:pPr marL="342900" indent="-34290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Class-balanced ranking: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applying PI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scored all 69 features with an XGBoost surrogate using inverse class-frequency weights, protecting rare attacks such as MITM.</a:t>
            </a:r>
          </a:p>
          <a:p>
            <a:pPr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Sequential validation: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pareto swept candidate subsets (k = 4, 15, 18, 34, 69) through the full Bi-LSTM to test real sequence-learning ability, not just surrogate scores.</a:t>
            </a:r>
          </a:p>
          <a:p>
            <a:pPr marL="342900" indent="-342900">
              <a:spcBef>
                <a:spcPts val="300"/>
              </a:spcBef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discovery: </a:t>
            </a:r>
            <a:r>
              <a:rPr lang="en-US" sz="1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 = 18 peaked in the shallow surrogate but collapsed under deep sequential modeling, so k = 15 stands as the optimal subset.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53227-15C9-40C3-3B0C-854EF50069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30" name="k-Discovery Table">
            <a:extLst>
              <a:ext uri="{FF2B5EF4-FFF2-40B4-BE49-F238E27FC236}">
                <a16:creationId xmlns:a16="http://schemas.microsoft.com/office/drawing/2014/main" id="{A50CED2C-0DDD-1C61-9531-B2C9E199AF6B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819400"/>
          <a:ext cx="6700000" cy="32587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44994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Candidate (k)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Mathematical Criterion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XGBoost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Surrogate Harmonic Score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Bi-LSTM Accuracy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Bi-LSTM F1-Macro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Bi-LSTM F1-Worst (MITM)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Bi-LSTM Harmonic Score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Status / Decision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641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 = 4</a:t>
                      </a:r>
                      <a:endParaRPr lang="en-US" sz="1200" b="1" dirty="0">
                        <a:solidFill>
                          <a:srgbClr val="1F497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Knee Inflection (Pareto)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0.7369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92.13%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0.8951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0.6433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0.5759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Rejected (Underfitting)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641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 = 15</a:t>
                      </a:r>
                      <a:endParaRPr lang="en-US" sz="1200" b="1" dirty="0">
                        <a:solidFill>
                          <a:srgbClr val="1F497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Optimal Inflection Point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0.7449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94.00%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0.9152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0.6996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0.6402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SELECTED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B3C6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41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 = 18</a:t>
                      </a:r>
                      <a:endParaRPr lang="en-US" sz="1200" b="1" dirty="0">
                        <a:solidFill>
                          <a:srgbClr val="1F497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Peak Surrogate Score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0.7607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92.17%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0.8958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0.6329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0.5670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Rejected (Sequence Collapse)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41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 = 34</a:t>
                      </a:r>
                      <a:endParaRPr lang="en-US" sz="1200" b="1" dirty="0">
                        <a:solidFill>
                          <a:srgbClr val="1F497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Peak Surrogate F1-Macro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0.7401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93.40%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0.9098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0.6899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0.6277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Rejected (High Footprint)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641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 = 69</a:t>
                      </a:r>
                      <a:endParaRPr lang="en-US" sz="1200" b="1" dirty="0">
                        <a:solidFill>
                          <a:srgbClr val="1F497D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Full Feature Baseline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0.7428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93.53%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0.9098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0.6891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0.6269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Rejected (Too Complex)</a:t>
                      </a:r>
                    </a:p>
                  </a:txBody>
                  <a:tcPr marL="27432" marR="27432" marT="14000" marB="14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6747AE6-06DC-2FEB-58E0-28B72C5C4C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924" y="1117686"/>
            <a:ext cx="4863007" cy="18032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25D615-1AC9-C628-4536-7DA3732945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386" y="2931467"/>
            <a:ext cx="4473931" cy="342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3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A020-7909-C054-A2D4-70B37D31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E0CF-50CC-C5F6-A24E-1C2E5261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FABE-5B36-DED2-3B43-97509D6D9E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0" name="Subhead 20"/>
          <p:cNvSpPr txBox="1"/>
          <p:nvPr/>
        </p:nvSpPr>
        <p:spPr>
          <a:xfrm>
            <a:off x="457200" y="1206367"/>
            <a:ext cx="7000000" cy="3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1" dirty="0">
                <a:solidFill>
                  <a:srgbClr val="4F81BD"/>
                </a:solidFill>
                <a:latin typeface="Times New Roman" pitchFamily="18" charset="0"/>
                <a:cs typeface="Times New Roman" pitchFamily="18" charset="0"/>
              </a:rPr>
              <a:t>Feature Selection: PI Optimal Subset (k = 15:  69 → 15 features  =  78.3% compression)</a:t>
            </a:r>
          </a:p>
        </p:txBody>
      </p:sp>
      <p:graphicFrame>
        <p:nvGraphicFramePr>
          <p:cNvPr id="21" name="Table 4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214494"/>
              </p:ext>
            </p:extLst>
          </p:nvPr>
        </p:nvGraphicFramePr>
        <p:xfrm>
          <a:off x="533401" y="1697066"/>
          <a:ext cx="5943599" cy="4343400"/>
        </p:xfrm>
        <a:graphic>
          <a:graphicData uri="http://schemas.openxmlformats.org/drawingml/2006/table">
            <a:tbl>
              <a:tblPr firstRow="1" bandRow="1"/>
              <a:tblGrid>
                <a:gridCol w="44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9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Name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Flow_Duration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duration of the network flow in microseconds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Src_Port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port number identifying the origin application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Dst_Port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Destination port number identifying the target application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Init_Bwd_Win_Byts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bytes sent in the initial backward TCP window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Flow_Pkts/s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packets transmitted per second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Protocol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 layer protocol (e.g., TCP, UDP)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Flow_IAT_Max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inter-arrival time between two packets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Flow_IAT_Mean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inter-arrival time between consecutive packets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Flow_IAT_Min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inter-arrival time between two packets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Bwd_Header_Len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header byte length in the backward direction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Pkt_Len_Mean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byte length of packets in the flow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Fwd_Header_Len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header byte length in the forward direction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Pkt_Size_Avg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size of the packets across the entire flow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Idle_Mean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time the flow was idle before becoming active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ACK_Flag_Cnt</a:t>
                      </a:r>
                      <a:endParaRPr lang="en-US"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packets with the Acknowledgment flag set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</a:t>
                      </a:r>
                    </a:p>
                  </a:txBody>
                  <a:tcPr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B062C2E-39D5-A172-E365-061809CAFB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530000"/>
            <a:ext cx="5395516" cy="4123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F11CA7-5A5B-D650-2F4A-5C5AF8958FF9}"/>
              </a:ext>
            </a:extLst>
          </p:cNvPr>
          <p:cNvSpPr txBox="1"/>
          <p:nvPr/>
        </p:nvSpPr>
        <p:spPr>
          <a:xfrm>
            <a:off x="6698054" y="5797220"/>
            <a:ext cx="52427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i="1" dirty="0"/>
              <a:t>Accuracy and macro-F1 comparison for feature subsets k in [4, 15, 18, 34, 69] across evaluated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1543971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A020-7909-C054-A2D4-70B37D31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E0CF-50CC-C5F6-A24E-1C2E5261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FABE-5B36-DED2-3B43-97509D6D9E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0" name="Subhead 20"/>
          <p:cNvSpPr txBox="1"/>
          <p:nvPr/>
        </p:nvSpPr>
        <p:spPr>
          <a:xfrm>
            <a:off x="3115255" y="937341"/>
            <a:ext cx="6096000" cy="3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1" dirty="0">
                <a:solidFill>
                  <a:srgbClr val="4F81BD"/>
                </a:solidFill>
                <a:latin typeface="Times New Roman" pitchFamily="18" charset="0"/>
                <a:cs typeface="Times New Roman" pitchFamily="18" charset="0"/>
              </a:rPr>
              <a:t>Classification: Regular Bi-LSTM (69 feat) vs. Optimized PI + CREA (15 feat)</a:t>
            </a:r>
          </a:p>
        </p:txBody>
      </p:sp>
      <p:sp>
        <p:nvSpPr>
          <p:cNvPr id="24" name="Note 24"/>
          <p:cNvSpPr txBox="1"/>
          <p:nvPr/>
        </p:nvSpPr>
        <p:spPr>
          <a:xfrm>
            <a:off x="440255" y="1143000"/>
            <a:ext cx="5350000" cy="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 algn="l">
              <a:buFont typeface="Wingdings" pitchFamily="2" charset="2"/>
              <a:buChar char="Ø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Binary Classification</a:t>
            </a:r>
          </a:p>
        </p:txBody>
      </p:sp>
      <p:graphicFrame>
        <p:nvGraphicFramePr>
          <p:cNvPr id="21" name="Table 4.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980544"/>
              </p:ext>
            </p:extLst>
          </p:nvPr>
        </p:nvGraphicFramePr>
        <p:xfrm>
          <a:off x="440255" y="1483000"/>
          <a:ext cx="5350000" cy="2095040"/>
        </p:xfrm>
        <a:graphic>
          <a:graphicData uri="http://schemas.openxmlformats.org/drawingml/2006/table">
            <a:tbl>
              <a:tblPr firstRow="1" bandRow="1"/>
              <a:tblGrid>
                <a:gridCol w="1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Metric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Regular Bi-LSTM (69)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Optimized PI+CREA (15)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Change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Features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-78.3%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99.64%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99.81%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+0.17%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0.9982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0.9988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+0.0006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0.9979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0.9992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+0.0013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F1-Score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0.9981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0.9990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+0.0009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Parameters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367,233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311,937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-15.1%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 Size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4.26 MB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3.63 MB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-14.8%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Latency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0.0263 ms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0.0247 ms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-6.1%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Note 25"/>
          <p:cNvSpPr txBox="1"/>
          <p:nvPr/>
        </p:nvSpPr>
        <p:spPr>
          <a:xfrm>
            <a:off x="364055" y="3603000"/>
            <a:ext cx="5350000" cy="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 algn="l">
              <a:buFont typeface="Wingdings" pitchFamily="2" charset="2"/>
              <a:buChar char="Ø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Multi-Class Classification</a:t>
            </a:r>
          </a:p>
        </p:txBody>
      </p:sp>
      <p:graphicFrame>
        <p:nvGraphicFramePr>
          <p:cNvPr id="22" name="Table 4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85235"/>
              </p:ext>
            </p:extLst>
          </p:nvPr>
        </p:nvGraphicFramePr>
        <p:xfrm>
          <a:off x="440255" y="3943000"/>
          <a:ext cx="5350000" cy="2301920"/>
        </p:xfrm>
        <a:graphic>
          <a:graphicData uri="http://schemas.openxmlformats.org/drawingml/2006/table">
            <a:tbl>
              <a:tblPr firstRow="1" bandRow="1"/>
              <a:tblGrid>
                <a:gridCol w="1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Metric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Regular Bi-LSTM (69)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Optimized PI+CREA (15)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Change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Features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-78.3%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89.44%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92.80%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+3.36%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Precision (Macro)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0.8194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0.8765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+0.0571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Recall (Macro)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0.9079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0.9654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+0.0575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F1-Macro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0.8506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0.9032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+0.0526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F1-Worst (MITM)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0.5267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0.6521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+0.1254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Parameters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367,749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312,453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-15.0%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 Size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4.26 MB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3.63 MB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-14.8%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Latency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0.0305 ms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0.0265 ms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-13.1%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7" name="Callout 27"/>
          <p:cNvSpPr txBox="1"/>
          <p:nvPr/>
        </p:nvSpPr>
        <p:spPr>
          <a:xfrm>
            <a:off x="6131724" y="5689021"/>
            <a:ext cx="5350000" cy="560000"/>
          </a:xfrm>
          <a:prstGeom prst="roundRect">
            <a:avLst>
              <a:gd name="adj" fmla="val 12000"/>
            </a:avLst>
          </a:prstGeom>
          <a:solidFill>
            <a:srgbClr val="DBE5F1"/>
          </a:solidFill>
        </p:spPr>
        <p:txBody>
          <a:bodyPr wrap="square" lIns="91440" tIns="36000" rIns="91440" bIns="36000" rtlCol="0" anchor="ctr">
            <a:normAutofit/>
          </a:bodyPr>
          <a:lstStyle/>
          <a:p>
            <a:pPr algn="ctr"/>
            <a:r>
              <a:rPr lang="en-US" sz="980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Class-weighted PI preserved the rare MITM ARP class (&lt;2% of data), lifting its F1 by +0.1254.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4F0D7-34B9-08DC-8C7D-360008530F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343" y="1483000"/>
            <a:ext cx="537410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71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A020-7909-C054-A2D4-70B37D31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E0CF-50CC-C5F6-A24E-1C2E5261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FABE-5B36-DED2-3B43-97509D6D9E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0" name="Subhead 20"/>
          <p:cNvSpPr txBox="1"/>
          <p:nvPr/>
        </p:nvSpPr>
        <p:spPr>
          <a:xfrm>
            <a:off x="457200" y="1170000"/>
            <a:ext cx="11000000" cy="3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1" dirty="0">
                <a:solidFill>
                  <a:srgbClr val="4F81BD"/>
                </a:solidFill>
                <a:latin typeface="Times New Roman" pitchFamily="18" charset="0"/>
                <a:cs typeface="Times New Roman" pitchFamily="18" charset="0"/>
              </a:rPr>
              <a:t>Adversarial Robustness — Architecture Ablation &amp; PGD-10 Defense</a:t>
            </a:r>
          </a:p>
        </p:txBody>
      </p:sp>
      <p:sp>
        <p:nvSpPr>
          <p:cNvPr id="24" name="Note 24"/>
          <p:cNvSpPr txBox="1"/>
          <p:nvPr/>
        </p:nvSpPr>
        <p:spPr>
          <a:xfrm>
            <a:off x="457200" y="1540000"/>
            <a:ext cx="10700000" cy="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 algn="l">
              <a:buFont typeface="Wingdings" pitchFamily="2" charset="2"/>
              <a:buChar char="Ø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Architectural Ablation (PI + CREA, k = 15)</a:t>
            </a:r>
          </a:p>
        </p:txBody>
      </p:sp>
      <p:graphicFrame>
        <p:nvGraphicFramePr>
          <p:cNvPr id="21" name="Table 4.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84518"/>
              </p:ext>
            </p:extLst>
          </p:nvPr>
        </p:nvGraphicFramePr>
        <p:xfrm>
          <a:off x="457201" y="1880000"/>
          <a:ext cx="6599999" cy="1639280"/>
        </p:xfrm>
        <a:graphic>
          <a:graphicData uri="http://schemas.openxmlformats.org/drawingml/2006/table">
            <a:tbl>
              <a:tblPr firstRow="1" bandRow="1"/>
              <a:tblGrid>
                <a:gridCol w="1579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58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1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10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Architecture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Accuracy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F1-Macro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F1-Worst (MITM)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Parameters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 Size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Latency (ms)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Standard LSTM (Unidirectional)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92.07%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0.8941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0.6355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123,461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1.45 MB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0.0222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Standard Bidirectional LSTM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92.80%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0.9032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0.6521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312,453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3.63 MB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0.0265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Attention-BiLSTM (Proposed)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92.62%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0.9011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0.6456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378,245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1.49 MB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0.0357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Callout 25"/>
          <p:cNvSpPr txBox="1"/>
          <p:nvPr/>
        </p:nvSpPr>
        <p:spPr>
          <a:xfrm>
            <a:off x="444061" y="3429000"/>
            <a:ext cx="6599999" cy="430000"/>
          </a:xfrm>
          <a:prstGeom prst="roundRect">
            <a:avLst>
              <a:gd name="adj" fmla="val 12000"/>
            </a:avLst>
          </a:prstGeom>
          <a:noFill/>
        </p:spPr>
        <p:txBody>
          <a:bodyPr wrap="square" lIns="91440" tIns="36000" rIns="91440" bIns="36000" rtlCol="0" anchor="ctr">
            <a:normAutofit/>
          </a:bodyPr>
          <a:lstStyle/>
          <a:p>
            <a:pPr algn="ctr"/>
            <a:r>
              <a:rPr lang="en-US" sz="980" dirty="0">
                <a:latin typeface="Times New Roman" pitchFamily="18" charset="0"/>
                <a:cs typeface="Times New Roman" pitchFamily="18" charset="0"/>
              </a:rPr>
              <a:t>Attention-BiLSTM is the only architecture meeting both the &lt;2.0 MB edge constraint and Bi-LSTM-level accuracy.</a:t>
            </a:r>
          </a:p>
        </p:txBody>
      </p:sp>
      <p:sp>
        <p:nvSpPr>
          <p:cNvPr id="26" name="Note 26"/>
          <p:cNvSpPr txBox="1"/>
          <p:nvPr/>
        </p:nvSpPr>
        <p:spPr>
          <a:xfrm>
            <a:off x="449316" y="3929490"/>
            <a:ext cx="6600000" cy="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 algn="l">
              <a:buFont typeface="Wingdings" pitchFamily="2" charset="2"/>
              <a:buChar char="Ø"/>
            </a:pPr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PGD-10 Robustness Summary (ε = 0.05)</a:t>
            </a:r>
          </a:p>
        </p:txBody>
      </p:sp>
      <p:graphicFrame>
        <p:nvGraphicFramePr>
          <p:cNvPr id="22" name="Table 4.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89707"/>
              </p:ext>
            </p:extLst>
          </p:nvPr>
        </p:nvGraphicFramePr>
        <p:xfrm>
          <a:off x="467710" y="4266531"/>
          <a:ext cx="6600000" cy="1359760"/>
        </p:xfrm>
        <a:graphic>
          <a:graphicData uri="http://schemas.openxmlformats.org/drawingml/2006/table">
            <a:tbl>
              <a:tblPr firstRow="1" bandRow="1"/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Model Variant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Clean Acc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PGD-10 Acc (ε=0.05)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 Drop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Robustness Gain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Undefended Attention-BiLSTM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92.62%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8.21%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-84.41%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— baseline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FGSM-Trained Attention-BiLSTM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90.32%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44.04%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-46.28%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+35.83 pp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PGD-Trained Attention-BiLSTM (Final)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87.99%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75.36%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-12.63%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+67.15 pp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Callout 27"/>
          <p:cNvSpPr txBox="1"/>
          <p:nvPr/>
        </p:nvSpPr>
        <p:spPr>
          <a:xfrm>
            <a:off x="457200" y="5659201"/>
            <a:ext cx="6600000" cy="640000"/>
          </a:xfrm>
          <a:prstGeom prst="roundRect">
            <a:avLst>
              <a:gd name="adj" fmla="val 12000"/>
            </a:avLst>
          </a:prstGeom>
          <a:noFill/>
        </p:spPr>
        <p:txBody>
          <a:bodyPr wrap="square" lIns="91440" tIns="36000" rIns="91440" bIns="36000" rtlCol="0" anchor="ctr">
            <a:normAutofit/>
          </a:bodyPr>
          <a:lstStyle/>
          <a:p>
            <a:pPr algn="ctr"/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A -4.63% clean-accuracy concession delivers +67.15 pp PGD-10 robustness — adversarial training is a security imperative.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59111-03CA-40EF-DC1C-6A4F0AFCE9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469" y="1156649"/>
            <a:ext cx="4417386" cy="2667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FFCD4C-7F60-AC38-15D7-A1D5FF1B11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469" y="3929490"/>
            <a:ext cx="4417385" cy="236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71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A020-7909-C054-A2D4-70B37D31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E0CF-50CC-C5F6-A24E-1C2E5261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2FABE-5B36-DED2-3B43-97509D6D9E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0" name="Subhead 20"/>
          <p:cNvSpPr txBox="1"/>
          <p:nvPr/>
        </p:nvSpPr>
        <p:spPr>
          <a:xfrm>
            <a:off x="457200" y="1170000"/>
            <a:ext cx="11200000" cy="36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Explainable AI — SHAP Kernel Explainer (Transparent Threat Alerts)</a:t>
            </a:r>
          </a:p>
        </p:txBody>
      </p:sp>
      <p:sp>
        <p:nvSpPr>
          <p:cNvPr id="24" name="Note 24"/>
          <p:cNvSpPr txBox="1"/>
          <p:nvPr/>
        </p:nvSpPr>
        <p:spPr>
          <a:xfrm>
            <a:off x="457200" y="1520000"/>
            <a:ext cx="6650000" cy="47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 algn="l">
              <a:buFont typeface="Wingdings" pitchFamily="2" charset="2"/>
              <a:buChar char="Ø"/>
            </a:pPr>
            <a:r>
              <a:rPr lang="en-US" sz="98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SHAP KernelExplainer computes each feature's Shapley contribution over a stratified background of 400 training samples across all 5 classes.</a:t>
            </a:r>
          </a:p>
        </p:txBody>
      </p:sp>
      <p:sp>
        <p:nvSpPr>
          <p:cNvPr id="26" name="Note 26"/>
          <p:cNvSpPr txBox="1"/>
          <p:nvPr/>
        </p:nvSpPr>
        <p:spPr>
          <a:xfrm>
            <a:off x="457200" y="1925665"/>
            <a:ext cx="6650000" cy="28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171450" indent="-171450" algn="l">
              <a:buFont typeface="Wingdings" pitchFamily="2" charset="2"/>
              <a:buChar char="Ø"/>
            </a:pPr>
            <a:r>
              <a:rPr lang="en-US" sz="105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Class-Specific SHAP Signatures</a:t>
            </a:r>
          </a:p>
        </p:txBody>
      </p:sp>
      <p:graphicFrame>
        <p:nvGraphicFramePr>
          <p:cNvPr id="22" name="Table SHAP-Clas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406052"/>
              </p:ext>
            </p:extLst>
          </p:nvPr>
        </p:nvGraphicFramePr>
        <p:xfrm>
          <a:off x="639097" y="2209800"/>
          <a:ext cx="4466303" cy="3968992"/>
        </p:xfrm>
        <a:graphic>
          <a:graphicData uri="http://schemas.openxmlformats.org/drawingml/2006/table">
            <a:tbl>
              <a:tblPr firstRow="1" bandRow="1"/>
              <a:tblGrid>
                <a:gridCol w="994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6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995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Attack Class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Primary SHAP Signature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Physical Interpretation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Mirai Botnet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Src_Port, Protocol, Dst_Port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Algorithmic scanning of specific vulnerable destination ports (e.g., Telnet) over targeted protocols for C2 propagation.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Denial of Service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Src_Port, Protocol, ACK_Flag_Cnt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High-volume protocol exploitation using spoofed source ports and manipulated ACK flags to overwhelm target sensors.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674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MITM ARP Spoofing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Src_Port, Dst_Port, Protocol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Forged localized routing packets bypassing standard application port mapping to intercept subnet traffic.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07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Scan / Port Sweep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Src_Port, Dst_Port, ACK_Flag_Cnt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Rapid, sequential reconnaissance pinging across multiple destination network ports, generating abnormal ACK flag responses.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C6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6109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1F497D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Normal Traffic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Dst_Port, Src_Port, Pkt_Size_Avg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Standard, expected routing ports with regular packet size distributions representing normal browsing communication.</a:t>
                      </a:r>
                    </a:p>
                  </a:txBody>
                  <a:tcPr marL="36576" marR="36576" marT="12000" marB="12000" anchor="ctr">
                    <a:lnL w="9525" cap="flat">
                      <a:solidFill>
                        <a:srgbClr val="4F81BD"/>
                      </a:solidFill>
                    </a:lnL>
                    <a:lnR w="9525" cap="flat">
                      <a:solidFill>
                        <a:srgbClr val="4F81BD"/>
                      </a:solidFill>
                    </a:lnR>
                    <a:lnT w="9525" cap="flat">
                      <a:solidFill>
                        <a:srgbClr val="4F81BD"/>
                      </a:solidFill>
                    </a:lnT>
                    <a:lnB w="9525" cap="flat">
                      <a:solidFill>
                        <a:srgbClr val="4F81BD"/>
                      </a:solidFill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AFA67AE-9232-7D0A-FF4A-5690BA69D3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8" r="59414"/>
          <a:stretch>
            <a:fillRect/>
          </a:stretch>
        </p:blipFill>
        <p:spPr>
          <a:xfrm>
            <a:off x="7207981" y="1500758"/>
            <a:ext cx="4603019" cy="20812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E384FA-884E-705F-6424-995DC10CB7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04" r="-1"/>
          <a:stretch>
            <a:fillRect/>
          </a:stretch>
        </p:blipFill>
        <p:spPr>
          <a:xfrm>
            <a:off x="5181600" y="3552719"/>
            <a:ext cx="6859981" cy="238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971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C0AD-443D-14BA-30F1-77A6AF88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B064-E09F-DF2D-2123-D72B3ACF8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93ADC-ACCA-822F-38D7-02A4417D88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2C3ADE-9FA1-96E8-488A-2463B8135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120" y="3286491"/>
            <a:ext cx="3125742" cy="29910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D1319E-88CE-6406-4D48-F2724F62A2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862" y="3374357"/>
            <a:ext cx="3023832" cy="28934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77477A-28A7-A33E-24F7-D197B51090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738" y="873266"/>
            <a:ext cx="2785515" cy="26654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DE3995-EEA9-C0E9-E5D2-466B177CF3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398" y="3537940"/>
            <a:ext cx="2928196" cy="2801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24C9E9-9D6B-4547-9A2E-395563BAFF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6" y="3464473"/>
            <a:ext cx="2884398" cy="27600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E8DB00-EB0F-1366-EA70-42089B933BF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972834"/>
            <a:ext cx="3866044" cy="23040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EE28F7-6235-7147-F89B-37C2A68E592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85" y="1109929"/>
            <a:ext cx="2645419" cy="208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05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7007-BE43-8114-9B32-F2E48E856E1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3-Way Optimization: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network intrusion detection system (NIDS) to achieve edge-optimized memory footprint (1.49 MB), white-box adversarial hardening (75.36% accuracy under PGD-10 attack), and post-hoc local explainability concurrently.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Interpretability-Preserving Feature Alignment (PI + CREA):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PCA creates abstract eigenvectors that make local feature attributions uninterpretable to analysts. Our proposed Constant Rate Eigenspace Alignment (CREA) projects 15 features to an aligned space, gaining +2.45% accuracy over simple selection while keeping 100% human-interpretable feature meaning.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Compressed Attention-BiLSTM Architecture: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Eliminates large parameter counts (under 378K parameters) by combining a bidirectional LSTM with a custom Luong self-attention layer. Achieves 92.62% multi-class accuracy at a latency of 0.0357 ms per packet.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1676400"/>
            <a:ext cx="11049000" cy="39624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Purpose-built pipeline: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edge-optimized, robust, and explainable deep-learning pipeline for multi-class IoT intrusion detection, delivering three tiers of engineering achievement.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Compression &amp; accuracy: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Class-Balanced Permutation Importance with CREA cut 69→15 features (78.3% reduction) on IoTID20, lifting the Bi-LSTM to 99.81% binary and 92.80% multi-class (from 4.26 MB to 3.63 MB); the proposed Attention-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reaches 92.62% multi-class in just 1.49 MB at 0.0368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packet.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robustness: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white-box PGD-10 (ε=0.05) clean accuracy collapsed to 8.21%; PGD-10 adversarial training restored it to 75.36% (+67.15 pp) for only a 4.63% clean-accuracy cost (92.62%→87.99%).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KernelExplainer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provides a global feature-importance ranking plus local packet-level waterfall plots, making alerts transparent, actionable, and verifiable for security analysts.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Accuracy-robustness trade-off: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training reduces clean accuracy by 4.63% (92.62%→87.99%).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latency: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KernelExplainer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computationally expensive (𝒪(2ⁿ·T f), computed per class), so local waterfall plots run asynchronously on centralized security hubs rather than in real time on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A3B3-C4C8-D937-C000-D8A95AA340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7569" y="960437"/>
            <a:ext cx="11816862" cy="4937125"/>
          </a:xfrm>
        </p:spPr>
        <p:txBody>
          <a:bodyPr numCol="1" spcCol="365760"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I. Ullah and Q. H. Mahmoud, "A Scheme for Generating a Dataset for Anomalous Activity Detection in IoT Networks," in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Artificial Intelligence, Canadian AI 2020, LNCS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12109, Springer, 2020, pp. 508-520.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Akintade, S. Kim, and K. Roy, "Explaining Machine Learning-Based Feature Selection of IDS for IoT and CPS Devices," in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19th IFIP International Conference on Artificial Intelligence Applications and Innovations (AIAI)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2023.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T. B.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Ogunseyi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P. Thiyagarajan, "An Explainable LSTM-Based Intrusion Detection System Optimized by Firefly Algorithm for IoT Networks,"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M. Lundberg and S.-I. Lee, "A Unified Approach to Interpreting Model Predictions," in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</a:t>
            </a:r>
            <a:r>
              <a:rPr lang="en-US" sz="5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30, 2017, pp. 4768-4777.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I. J. Goodfellow, J.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Shlens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C. Szegedy, "Explaining and Harnessing Adversarial Examples," in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A. Madry,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Makelov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Schmidt, D. Tsipras, and A. Vladu, "Towards Deep Learning Models Resistant to Adversarial Attacks," in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N. V. Chawla, K. W. Bowyer, L. O. Hall, and W. P.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Kegelmeyer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"SMOTE: Synthetic Minority Over-sampling Technique,"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16, 2002, pp. 321-357.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T. Chen and C.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System," in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KDD '16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2016, pp. 785-794.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M. N. Islam et al., "Towards Machine Learning Based Intrusion Detection in IoT Networks,"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CMC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69, no. 2, 2021, pp. 1801-1821.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S. Hochreiter and J.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Schmidhuber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"Long Short-Term Memory,"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Computation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8, 1997, pp. 1735-1780.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M. Schuster and K. K. Paliwal, "Bidirectional Recurrent Neural Networks,"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Trans. Signal Processing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45, no. 11, 1997, pp. 2673-2681.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X. Chen, M. Liu, Z. Wang, and Y. Wang, "Explainable Deep Learning-Based Feature Selection and Intrusion Detection Method on the Internet of Things,"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24, no. 16, 2024, p. 5223.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S.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Kalakoti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Vaarandi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Bahsi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"Evaluating XAI for Deep Learning-Based NIDS Alert Classification,"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M.-T. Luong, H. Pham, and C. D. Manning, "Effective Approaches to Attention-based Neural Machine Translation," in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EMNLP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2015, pp. 1412-1421.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H. Ben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Ncir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Ben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HajKacem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K.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Alattas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"Enhancing Intrusion Detection Performance Using Explainable Ensemble Deep Learning," </a:t>
            </a:r>
            <a:r>
              <a:rPr lang="en-US" sz="5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0" indent="0">
              <a:buNone/>
            </a:pPr>
            <a:endParaRPr lang="en-US" sz="9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E3F3-C051-76FF-7FF5-77CED7A5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D74B-9B71-F1B7-223A-F3DE37C88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ED8E7-4834-2D52-252C-FCF1D8F9520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021" y="990600"/>
            <a:ext cx="11942979" cy="5173879"/>
          </a:xfrm>
        </p:spPr>
        <p:txBody>
          <a:bodyPr numCol="1" spcCol="365760"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A. Grabowski and S. Xu, "Advancing Cybersecurity Practice: Explainable Machine Learning for Network Intrusion Detection," Journal of Cybersecurity Education, Research and Practice, 2024.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A. Al-Shibly, A. Burgas, and J.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Massana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"Interpretable Intrusion Detection for IoT: A CNN-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Permutation Importance Framework," Frontiers in Big Data, 2026.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A. Abdelaziz et al., "Enhancing Network Threat Detection with Random Forest-Based NIDS and Permutation Feature Importance," Sensors, 2025.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M. T. Ribeiro, S. Singh, and C.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"'Why Should I Trust You?': Explaining the Predictions of Any Classifier," in KDD '16, 2016, pp. 1135-1144.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D. Gaspar, P. Silva, and C. Silva, "Explainable AI for Intrusion Detection Systems: LIME and SHAP Applicability on Multi-Layer Perceptron," IEEE Access, 2024.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S. Hariharan, R. R. R. Robinson, R. R. Prasad, C. Thomas, and N. Balakrishnan, "XAI for intrusion detection system: comparing explanations based on global and local scope," Journal of Computer Virology and Hacking Techniques, vol. 19, 2023, pp. 217–239.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C. Zhang, J. Li, N. Wang, and D. Zhang, "Research on Intrusion Detection Method Based on Transformer and CNN-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Internet of Things," Sensors, vol. 25, no. 9, 2025, p. 2725.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S. Kaushik, A. Bhardwaj,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Almogren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Bharany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Altameem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U. Rehman, S. Hussen, and H. Hamam, "Robust machine learning based Intrusion detection system using simple statistical techniques in feature selection," Scientific Reports, vol. 15, 2025, p. 3970.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 I. T. Jolliffe, Principal Component Analysis, 2nd ed. Springer, 2002.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 S. G. K. Patro and K. K. Sahu, "Normalization: A Preprocessing Stage," IARJSET, vol. 2, no. 3, 2015.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[26] R. Kohavi, "A Study of Cross-Validation and Bootstrap for Accuracy Estimation," in IJCAI, vol. 14, no. 2, 1995, pp. 1137-1145.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[27] M. Sokolova and G. Lapalme, "A Systematic Analysis of Performance Measures for Classification Tasks," Information Processing &amp; Management, vol. 45, no. 4, 2009, pp. 427-437.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[28] G. Apruzzese et al., "The Role of Machine Learning in Cybersecurity," Digital Threats, vol. 4, no. 1, 2023, pp. 1–38.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[29] N. Capuano et al., "Explainable AI in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Survey," IEEE Access, vol. 10, 2022, pp. 93575–93600.</a:t>
            </a:r>
          </a:p>
          <a:p>
            <a:pPr marL="0" indent="0">
              <a:buNone/>
            </a:pPr>
            <a:endParaRPr lang="en-US" sz="9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22CE4-EAAD-6CF2-9206-E6D7D27792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74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E66C-AF38-A0DA-0C81-11480A06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742B5-216E-7B60-5572-845FEC1A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AE5A9-E364-A17A-3ABE-C83F3826F0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9021" y="998321"/>
            <a:ext cx="11942979" cy="5173879"/>
          </a:xfrm>
        </p:spPr>
        <p:txBody>
          <a:bodyPr numCol="1" spcCol="365760"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[30] J. Zhang, X. Zhang, Z. Liu, F. Fu, Y. Jiao, and F. Xu, "A Network Intrusion Detection Model Based on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Multi-Head Attention Mechanism," Electronics, vol. 12, 2023, p. 4170.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[31] V. Z. Mohale and I. C.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Obagbuwa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"Evaluating machine learning-based intrusion detection systems with explainable AI: enhancing transparency and interpretability," Frontiers in Computer Science, vol. 7, 2025, p. 1520741.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[32] V.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Satopaa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"Finding a '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Kneedle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in a Haystack: Detecting Knee Points in System Behavior," in ICDCSW, 2011, pp. 166–171.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[33] M.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Ferrag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"Deep Learning for Cyber Security Intrusion Detection: Approaches, Datasets, and Comparative Study," J. Info. Sec. Applications, vol. 50, 2020, p. 102419.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[34] D. Tsipras, S.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Santurkar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Engstrom, A. Turner, and A. Madry, "Robustness May Be at Odds with Accuracy," in ICLR, 2019.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[35] M. Shafiq et al., "A Hybrid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-CNN Approach for Intrusion Detection for IoT Applications," Electronics, 2024.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[36] S. Sadhwani,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Navare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Mohan, R.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Muthalagu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P. M. Pawar, "IoT-based Intrusion Detection System Using Explainable Multi-class Deep Learning Approaches," Computers and Electrical Engineering, vol. 123, 2025, p. 110256.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[37] N. G. Pour and S.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Shemehsavar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"DCB-VIM: An Ensemble Learning Based Filter Method for Feature Selection with Imbalanced Class Distribution," Neurocomputing, vol. 651, 2025, p. 130848.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[38] D. Alomari, M.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Alabdullatif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F. A. Khan, "An Explainable AI-based Network Intrusion Detection System for Botnet Attacks," in EASE Companion 2025, 2025, pp. 169-175.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[39] E. W.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Sholeha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Y. Jaya, and Q. A. </a:t>
            </a:r>
            <a:r>
              <a:rPr lang="en-US" sz="5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Fitroh</a:t>
            </a:r>
            <a:r>
              <a:rPr lang="en-US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"Explainable Machine Learning for Network Intrusion Detection Using SHAP-Based Feature Interpretation," Journal of Information Systems and Informatics, 2024.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9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3FE36-A2A2-21E5-9EA0-BC32A0D17F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86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1378</TotalTime>
  <Words>4518</Words>
  <Application>Microsoft Office PowerPoint</Application>
  <PresentationFormat>Widescreen</PresentationFormat>
  <Paragraphs>578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New Microsoft PowerPoint Presentation</vt:lpstr>
      <vt:lpstr>Optimizing and Interpreting Deep Learning for IoT Security: An Explainable AI (XAI)Framework for Bi-LSTM-Based Intrusion Detection</vt:lpstr>
      <vt:lpstr>Outline</vt:lpstr>
      <vt:lpstr>Introduction</vt:lpstr>
      <vt:lpstr>Objective</vt:lpstr>
      <vt:lpstr>Background Study</vt:lpstr>
      <vt:lpstr>Background Study (Cont.)</vt:lpstr>
      <vt:lpstr>Gap Analysis</vt:lpstr>
      <vt:lpstr>Methodology</vt:lpstr>
      <vt:lpstr>Dataset &amp; Preprocessing </vt:lpstr>
      <vt:lpstr>Result and Analysis</vt:lpstr>
      <vt:lpstr>Result and Analysis</vt:lpstr>
      <vt:lpstr>Result and Analysis</vt:lpstr>
      <vt:lpstr>Result and Analysis</vt:lpstr>
      <vt:lpstr>Result and Analysis</vt:lpstr>
      <vt:lpstr>Result and Analysis</vt:lpstr>
      <vt:lpstr>Result and Analysis</vt:lpstr>
      <vt:lpstr>Novelty of the Work</vt:lpstr>
      <vt:lpstr>Conclusion</vt:lpstr>
      <vt:lpstr>References</vt:lpstr>
      <vt:lpstr>References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Mursaline Huqe</cp:lastModifiedBy>
  <cp:revision>264</cp:revision>
  <dcterms:created xsi:type="dcterms:W3CDTF">2011-07-17T02:56:35Z</dcterms:created>
  <dcterms:modified xsi:type="dcterms:W3CDTF">2026-07-11T22:07:49Z</dcterms:modified>
</cp:coreProperties>
</file>